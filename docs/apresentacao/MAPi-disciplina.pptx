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2A3B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2A3B"/>
                </a:solidFill>
                <a:latin typeface="+mn-lt"/>
              </a:rPr>
              <a:t>AUC contra dias sem registro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B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M1a (balde)</c:v>
                  </c:pt>
                  <c:pt idx="1">
                    <c:v>B2 (clim. sazonal)</c:v>
                  </c:pt>
                  <c:pt idx="2">
                    <c:v>B3 (regra IDF)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0.891</c:v>
                </c:pt>
                <c:pt idx="1">
                  <c:v>0.777</c:v>
                </c:pt>
                <c:pt idx="2">
                  <c:v>0.891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1B2B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2A3B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2A3B"/>
                </a:solidFill>
                <a:latin typeface="+mn-lt"/>
              </a:rPr>
              <a:t>Chuva horária (mm/h)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mm/h</c:v>
                </c:pt>
              </c:strCache>
            </c:strRef>
          </c:tx>
          <c:spPr>
            <a:solidFill>
              <a:srgbClr val="B548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48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B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BA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Máximo da reanálise</c:v>
                  </c:pt>
                  <c:pt idx="1">
                    <c:v>Limiar IDF (B3)</c:v>
                  </c:pt>
                  <c:pt idx="2">
                    <c:v>Capacidade de projeto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16.7</c:v>
                </c:pt>
                <c:pt idx="1">
                  <c:v>50.3</c:v>
                </c:pt>
                <c:pt idx="2">
                  <c:v>60.1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B2B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staging, validação com quarentena, série consolidada em UTC com provenanceId.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MAPi: previsão de risco de alagamento no Recife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dados abertos permitem testar, e o que não permitem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Pavao  |  Apresentação da disciplina  |  outubro de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avaliação F1 concluída; revisão do orientador pendente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alagamento urbano no Recife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docs/PARAMETROS-MODELO-FISICO.md (PDDR sobre galerias sub-dimensionadas); docs/HANDOFF-fase-3.md (cotas do MDT); docs/MEMO-ESCASSEZ-DE-ROTULO.md.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convectiva curta, cidade plana e baixa, maré alta e galerias de microdrenagem sub-dimensionadas.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Defesa Civil registra atendimentos de alagamento. Esse registro é o único rótulo público disponível.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do MAPi: dá para ordenar os dias de maior risco usando só dados abertos (chuva, maré, terreno)?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monitorados: 5. Dois deles aparecem neste deck como caso: Derby e Imbiribeira.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6948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Derby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9659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da rua no MDT: 2,58 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contribuinte: 62 m² (snap de 10 m)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não confirmado: só cotas relativas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365760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6948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Imbiribeira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42519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da rua no MDT: 2,07 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contribuinte: 10 103 m²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é sensível à regra de snap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e fontes, com licenças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docs/FONTES-E-LICENCAS.md (tabela-resumo); docs/HANDOFF-fase-2.md (44 568 h de maré; 5 anos de chuva).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846320"/>
                <a:gridCol w="4754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 e cobertura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Licença ou termo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 (archive, ERA5-Land), 5 anos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 4.0; API gratuita só para uso não comercial; creditar ECMWF/Copernicus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DHN: tábuas reconstruídas dos PDFs, 2021–2026 (44 568 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 não localizado; é previsão astronômica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Terreno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PE3D (APAC): MDT LiDAR de 1 m, voo de 2016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 não localizado; acesso por termo de compromisso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Rótulos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CKAN da Prefeitura: atendimentos da Defesa Civil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ODbL; share-alike para bases derivadas; LGPD se houver endereço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Pluviômetros: Cemaden com fuso verificado (UTC−3), só a partir de 2026-10-09. ANA e APAC 24 h continuam em quarentena.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bruto até a resposta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ADRs 0006 e 0007; docs/HANDOFF-fase-2.md.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8FB3C4"/>
          </a:solidFill>
          <a:ln w="12700">
            <a:solidFill>
              <a:srgbClr val="8FB3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Open-Meteo, DHN, PE3D, CKAN, Cemaden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2194560"/>
            <a:ext cx="251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81178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032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94894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bruto, fuso declarado por fonte (source_tz)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23460" y="2194560"/>
            <a:ext cx="251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07492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6636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pré-fixados; reprovado vai para quarentena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2194560"/>
            <a:ext cx="251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733806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2950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Consolidada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47522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versionada em UTC com provenanceId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349740" y="2194560"/>
            <a:ext cx="251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1" name="Shape 18"/>
          <p:cNvSpPr/>
          <p:nvPr/>
        </p:nvSpPr>
        <p:spPr>
          <a:xfrm>
            <a:off x="960120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69264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73836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enum fechado, null em falha, degradationReason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977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Proveniência por observação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434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valor consolidado aponta para o registro bruto, a fonte e a versão. É o que permite auditar qualquer número do deck.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46520" y="3977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Quarentena na prática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46520" y="4434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Cemaden passou no teste de fuso (UTC−3). A ANA reprovou: argmax de −4 h nas 4 estações. Ela fica fora até nova reavaliação.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Terreno PE3D: cota e área contribuinte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docs/HANDOFF-fase-3.md; docs/TERRENO-PE3D.md; ADR 0009. Imagem: camada de hipsometria do front (docs/revisao/fase-4/screenshots, v3).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126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da rua (m): Ibura 1,39; CIn 7,68; Derby 2,58; Imbiribeira 2,07.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4 dos 5 pontos. Jaboatão Centro fica a 1 410 m da folha mais próxima.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contribuinte validada contra o WhiteboxTools: 97 a 99,5% de concordância. O D8 próprio tinha bug (53 a 55%), pego por esse teste.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(ADR 0009): o desnível entre o NR da DHN e o datum do MDT não foi fechado (estimativa Δ ≈ +1,04 ± 0,3 m). Só valem cotas relativas; ficam proibidos maré menos cota da rua e folga até a soleira.</a:t>
            </a:r>
            <a:endParaRPr lang="en-US" sz="1500" dirty="0"/>
          </a:p>
        </p:txBody>
      </p:sp>
      <p:pic>
        <p:nvPicPr>
          <p:cNvPr id="5" name="Image 0" descr="Camada de hipsometria do terreno no mapa do M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371600"/>
            <a:ext cx="457200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com a API desligada; só a camada de terreno importa aqui.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achado do rótulo: 18 dias em 5 anos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docs/HANDOFF-fase-2.md; docs/MEMO-ESCASSEZ-DE-ROTULO.md §1.1 e §1.3; docs/PRE-REGISTRO-AVALIACAO.md §2.2.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com alagamento registrado na cidade, em 5 anos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eventos-dia casam com os pontos a 500 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2 456 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mediana entre a coordenada e o ponto: resolução de bairro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371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5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ocorrências com hora; todas têm precisão de dia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supervisionado não se sustenta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519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18 positivos não se treina, calibra e testa ao mesmo tempo. Para recall com ±0,15 seriam necessários cerca de 43 positivos independentes.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794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registro em si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2519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ocorrências canônicas em 77 coordenadas. Em 2021 há 1 ocorrência de alagamento em 64 855 registros. Dia sem registro não é dia sem alagamento.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F1 e o que o pré-registro fixou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docs/MODELAGEM-IA.md §0; docs/PRE-REGISTRO-AVALIACAO.md (commit 77e41de; escores SHA-256 4615d416…); docs/INTERPRETACAO-F1.md §3.2.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0" cy="4754880"/>
          </a:xfrm>
          <a:prstGeom prst="roundRect">
            <a:avLst>
              <a:gd name="adj" fmla="val 16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F1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114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físico (balde) como principal.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18 dias servem só de teste: nenhum parâmetro vê os eventos.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Unidade: dia × Recife. Essa troca foi pós-hoc e está registrada como tal.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Petri e emulador de ML: fora desta avaliação.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371600"/>
            <a:ext cx="6217920" cy="4754880"/>
          </a:xfrm>
          <a:prstGeom prst="roundRect">
            <a:avLst>
              <a:gd name="adj" fmla="val 1538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15087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Fixado antes de juntar com os rótulos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96596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Hipóteses: H1 (balde &gt; climatologia sazonal) e H2 (balde &gt; regra IDF), em ordem hierárquica.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só de fonte externa.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Escores cegos congelados por SHA-256.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rodado uma vez sobre os rótulos reais.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parada: H2 só se H1 for positiva.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Degeneração prevista por escrito.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do balde e baselines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docs/PARAMETROS-MODELO-FISICO.md (linhas 1, 6, 8, 9); docs/MODELAGEM-IA.md §2.1; docs/PRE-REGISTRO-AVALIACAO.md §4.2.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balde transborda quando P(t) &gt; f · i_T. Coeficiente C e área contribuinte se cancelam nessa condição.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2560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(faixa)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Coeficiente de escoamento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 (0,70 a 0,95)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Silva Júnior (2015), via Xavier Filho (2016)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 de projeto (TR 5, 60 min)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60,1 mm/h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Silva e Araújo (2013), Eq. 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Limiar IDF de B3 (TR 2, 60 min)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50,3 mm/h (47,4 a 55)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Silva e Araújo (2013); EMLURB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Lâmina crítica na via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cm (10 a 30)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(2026); Teixeira (2021)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 da galeria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1,0, sem fonte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Hipótese: galeria como projetada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10312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69748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B0: nunca alaga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B1: climatologia constante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B2: normal mensal INMET 1991–2020 (posto 82900)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B3: chuva horária acima de 50,3 mm/h (regra IDF)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H1 inconclusiva, H2 não testada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docs/RESULTADOS-AVALIACAO-F1.md §4, §5, §6; docs/INTERPRETACAO-F1.md §1.1. AUC de 14 positivos (13 episódios) contra 689 dias sem registro; IC 95% por bootstrap.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28016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37960" y="1417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H1: inconclusiva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1874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ΔAUC (M1a − B2) = +0,113, IC 95% [−0,010; +0,252]. O IC contém 0.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29260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H2: não testada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3520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parada. ΔAUC = 0,000 por construção: M1a e B3 ordenam igual.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44348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Degeneração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5029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 nos 14 positivos; alerta em 0 de 689 dias. A reanálise chega a no máximo 16,7 mm/h.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degenerou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docs/INTERPRETACAO-F1.md §2; F4-IA-13 (131 632 pontos-hora, 4 pontos, 2021-04 a 2024-12); docs/PARAMETROS-MODELO-FISICO.md linhas 6 e 8.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reanálise é média de uma célula de grade e suaviza a chuva convectiva que alaga ruas.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horário é 33% do limiar IDF. Nenhuma das 131 632 horas chega a 25,2 mm/h.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hora acima da capacidade, S = 0 em todos os dias. Nenhuma variante de C, i_T, curva ou snap muda isso.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escore cai no desempate: chuva horária máxima. M1a e B3 ficam idênticos.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contra pluviômetro foi impossível: 0 horas comuns.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Ameaças à validade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docs/INTERPRETACAO-F1.md §3; docs/PRE-REGISTRO-AVALIACAO.md §2.2 e §9.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Construto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mede atendimento registrado, não alagamento, com resolução de bairro. O escore do balde mediu chuva, não o balde.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659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dos dias positivos já tinha sido vista. Mitigação: parâmetros externos, escores congelados, execução única. Fuso da ANA ainda em dúvida (RC-16).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positivos em 13 episódios; ΔAUC detectável entre 0,07 e 0,15. As 24 variantes dão o mesmo AUC: não são 30 evidências.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526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Recife, 2023–2024, uma reanálise. Produção usa previsão e a avaliação usou archive; o resultado não transfere direto ao painel.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seria preciso para um teste com poder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docs/INTERPRETACAO-F1.md §4; docs/MEMO-ESCASSEZ-DE-ROTULO.md §1.3 e §3.2.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80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Forçante que alcance as intensidades de projeto: pluviômetro com fuso verificado, ou transferência por igual frequência (≥ 1 ano de horas comuns).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23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da galeria com fonte (cadastro EMLURB/SESAN); sem ela C e A se cancelam.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566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episódios independentes.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09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com hora e endereço, para voltar à pergunta por ponto.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Episódios independentes necessários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828800"/>
          <a:ext cx="4754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ΔAUC detectável (r = 0,5)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(hoje)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858000" y="42976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com ±0,15 pede cerca de 43 positivos; com ±0,10, cerca de 96. O ΔAUC mínimo de interesse ainda precisa ser fixado em novo pré-registro.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Contribuição da dissertação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docs/INTERPRETACAO-F1.md §5.1 e §5.2; docs/HANDOFF-fase-2.md; docs/HANDOFF-fase-3.md.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e pipeline auditáveis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Proveniência por observação.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Fuso verificado por teste pré-fixado (Cemaden aprovado, ANA em quarentena).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Maré da DHN reconstruída: 44 568 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reprodutível: duas execuções, mesmo SHA-256.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negativo informativo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659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pré-registrado executado como escrito.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Degeneração prevista e confirmada.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abertos não sustentam o teste: 18 dias, bairro, 16,7 mm/h.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B2A3B"/>
          </a:solidFill>
          <a:ln w="12700">
            <a:solidFill>
              <a:srgbClr val="0B2A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800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se afirma que o modelo físico tem habilidade, nem que não tem. Ele não foi exercitado: não foi possível testá-lo com os dados disponíveis.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próximos passos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docs/INTERPRETACAO-F1.md §4 e §5; docs/HANDOFF-fase-2.md (F2-DADOS-10); docs/HANDOFF-fase-3.md; docs/pedidos/.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riskLevel em produção não tem validação empírica; o painel avisa por modelValidationStatus.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em 4 de 5 pontos; datum vertical aberto (ADR 0009).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 de maré, galeria ou refluxo no teste.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 feitas por modelos da mesma família: pontos cegos correlacionados.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6596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Reabrir a ANA com teste pré-fixado (≥ 200 leituras ao vivo).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LAI do registro interno da Defesa Civil: hora, endereço, mais episódios.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Δ do ADR 0009 (CHM/DHN, IBGE, PE3D).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pré-registro com forçante pontual e ΔAUC mínimo fixado.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futuro: rede de Petri, fora do escopo atual.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Pi">
  <a:themeElements>
    <a:clrScheme name="MAPi">
      <a:dk1>
        <a:srgbClr val="1B2B34"/>
      </a:dk1>
      <a:lt1>
        <a:srgbClr val="FFFFFF"/>
      </a:lt1>
      <a:dk2>
        <a:srgbClr val="0B2A3B"/>
      </a:dk2>
      <a:lt2>
        <a:srgbClr val="EAF1F4"/>
      </a:lt2>
      <a:accent1>
        <a:srgbClr val="1C7293"/>
      </a:accent1>
      <a:accent2>
        <a:srgbClr val="E8A33D"/>
      </a:accent2>
      <a:accent3>
        <a:srgbClr val="B5483A"/>
      </a:accent3>
      <a:accent4>
        <a:srgbClr val="5B7C8D"/>
      </a:accent4>
      <a:accent5>
        <a:srgbClr val="2E8B6E"/>
      </a:accent5>
      <a:accent6>
        <a:srgbClr val="8A9BA5"/>
      </a:accent6>
      <a:hlink>
        <a:srgbClr val="1C7293"/>
      </a:hlink>
      <a:folHlink>
        <a:srgbClr val="5B7C8D"/>
      </a:folHlink>
    </a:clrScheme>
    <a:fontScheme name="MAP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MAPi: previsão de risco de alagamento no Recife</dc:title>
  <dc:subject>PptxGenJS Presentation</dc:subject>
  <dc:creator>Lucas Pavao</dc:creator>
  <cp:lastModifiedBy>Lucas Pavao</cp:lastModifiedBy>
  <cp:revision>1</cp:revision>
  <dcterms:created xsi:type="dcterms:W3CDTF">2026-10-11T10:27:25Z</dcterms:created>
  <dcterms:modified xsi:type="dcterms:W3CDTF">2026-10-11T10:27:25Z</dcterms:modified>
</cp:coreProperties>
</file>